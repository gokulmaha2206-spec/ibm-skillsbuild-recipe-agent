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gokulmaha2206-spec/IBM-SkillsBuild-Recipe-Agent.gi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5733340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err="1"/>
                        <a:t>Gokulakrishnan.S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gokulmaha2206@gmail.com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8825409970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690624" y="1460724"/>
            <a:ext cx="10795794" cy="523220"/>
          </a:xfrm>
          <a:prstGeom prst="rect">
            <a:avLst/>
          </a:prstGeom>
          <a:noFill/>
        </p:spPr>
        <p:txBody>
          <a:bodyPr wrap="square" rtlCol="0">
            <a:spAutoFit/>
          </a:bodyPr>
          <a:lstStyle/>
          <a:p>
            <a:r>
              <a:rPr lang="en-US" sz="2800" b="1" dirty="0"/>
              <a:t>Domain of  Project </a:t>
            </a:r>
            <a:r>
              <a:rPr lang="en-US" sz="2400" b="1" dirty="0"/>
              <a:t>– </a:t>
            </a:r>
            <a:r>
              <a:rPr lang="en-IN" sz="2400" dirty="0">
                <a:highlight>
                  <a:srgbClr val="FFFF00"/>
                </a:highlight>
              </a:rPr>
              <a:t>Healthcare / Food Technology / Artificial Intelligence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92552"/>
          </a:xfrm>
          <a:prstGeom prst="rect">
            <a:avLst/>
          </a:prstGeom>
          <a:noFill/>
        </p:spPr>
        <p:txBody>
          <a:bodyPr wrap="square" rtlCol="0">
            <a:spAutoFit/>
          </a:bodyPr>
          <a:lstStyle/>
          <a:p>
            <a:r>
              <a:rPr lang="en-US" sz="2800" b="1" dirty="0"/>
              <a:t>Project Tile </a:t>
            </a:r>
            <a:r>
              <a:rPr lang="en-US" sz="2400" b="1" dirty="0"/>
              <a:t>– </a:t>
            </a:r>
            <a:r>
              <a:rPr lang="en-IN" sz="2400" dirty="0">
                <a:highlight>
                  <a:srgbClr val="FFFF00"/>
                </a:highlight>
              </a:rPr>
              <a:t>AI-Powered Recipe Preparation Agent</a:t>
            </a:r>
          </a:p>
          <a:p>
            <a:endParaRPr lang="en-IN" sz="2400" b="1" dirty="0">
              <a:highlight>
                <a:srgbClr val="FFFF00"/>
              </a:highlight>
            </a:endParaRPr>
          </a:p>
        </p:txBody>
      </p:sp>
      <p:pic>
        <p:nvPicPr>
          <p:cNvPr id="5" name="Picture 4">
            <a:extLst>
              <a:ext uri="{FF2B5EF4-FFF2-40B4-BE49-F238E27FC236}">
                <a16:creationId xmlns:a16="http://schemas.microsoft.com/office/drawing/2014/main" id="{572B1497-AFF6-B7B9-A784-0EAB262879F1}"/>
              </a:ext>
            </a:extLst>
          </p:cNvPr>
          <p:cNvPicPr>
            <a:picLocks noChangeAspect="1"/>
          </p:cNvPicPr>
          <p:nvPr/>
        </p:nvPicPr>
        <p:blipFill>
          <a:blip r:embed="rId3"/>
          <a:stretch>
            <a:fillRect/>
          </a:stretch>
        </p:blipFill>
        <p:spPr>
          <a:xfrm>
            <a:off x="4062866" y="3650573"/>
            <a:ext cx="752658" cy="9740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r>
              <a:rPr lang="en-IN" b="1" dirty="0"/>
              <a:t>Problem Statement : Recipe Preparation Agent</a:t>
            </a:r>
            <a:endParaRPr lang="en-IN" dirty="0"/>
          </a:p>
          <a:p>
            <a:r>
              <a:rPr lang="en-IN" b="1" dirty="0"/>
              <a:t>The Challenge:</a:t>
            </a:r>
          </a:p>
          <a:p>
            <a:endParaRPr lang="en-IN" b="1" dirty="0"/>
          </a:p>
          <a:p>
            <a:r>
              <a:rPr lang="en-IN" dirty="0"/>
              <a:t>Efficient meal preparation is essential for healthy living, but individuals frequently struggle with </a:t>
            </a:r>
            <a:r>
              <a:rPr lang="en-IN" b="1" dirty="0"/>
              <a:t>pantry inventory management, ingredient wastage, and decision fatigue</a:t>
            </a:r>
            <a:r>
              <a:rPr lang="en-IN" dirty="0"/>
              <a:t> when cooking at home. Information regarding recipe adaptations, cooking techniques, and ingredient substitutions is scattered across static culinary platforms. Without </a:t>
            </a:r>
            <a:r>
              <a:rPr lang="en-IN" b="1" dirty="0"/>
              <a:t>personalized, real-time guidance</a:t>
            </a:r>
            <a:r>
              <a:rPr lang="en-IN" dirty="0"/>
              <a:t>, many fail to utilize available household ingredients effectively or adapt recipes to their dietary needs. </a:t>
            </a:r>
          </a:p>
          <a:p>
            <a:r>
              <a:rPr lang="en-IN" b="1" dirty="0"/>
              <a:t>The Objective:</a:t>
            </a:r>
          </a:p>
          <a:p>
            <a:r>
              <a:rPr lang="en-IN" dirty="0"/>
              <a:t> Build an </a:t>
            </a:r>
            <a:r>
              <a:rPr lang="en-IN" b="1" dirty="0"/>
              <a:t>AI-powered Recipe Preparation Agent</a:t>
            </a:r>
            <a:r>
              <a:rPr lang="en-IN" dirty="0"/>
              <a:t> that delivers </a:t>
            </a:r>
            <a:r>
              <a:rPr lang="en-IN" b="1" dirty="0"/>
              <a:t>personalized culinary guidance and pantry-focused meal solutions</a:t>
            </a:r>
            <a:r>
              <a:rPr lang="en-IN" dirty="0"/>
              <a:t> for home cooks and busy individuals. The solution should: </a:t>
            </a:r>
          </a:p>
          <a:p>
            <a:endParaRPr lang="en-IN" dirty="0"/>
          </a:p>
          <a:p>
            <a:pPr lvl="0"/>
            <a:r>
              <a:rPr lang="en-IN" b="1" dirty="0"/>
              <a:t>Zero-Waste Pantry Cooking</a:t>
            </a:r>
            <a:r>
              <a:rPr lang="en-IN" dirty="0"/>
              <a:t> – Recommend tailored recipes based strictly on user-provided ingredients on hand. </a:t>
            </a:r>
          </a:p>
          <a:p>
            <a:pPr lvl="0"/>
            <a:r>
              <a:rPr lang="en-IN" b="1" dirty="0"/>
              <a:t>Recipe RAG Retrieval</a:t>
            </a:r>
            <a:r>
              <a:rPr lang="en-IN" dirty="0"/>
              <a:t> – Fetch and summarize structured preparation steps, cooking times, and ingredient proportions from reliable knowledge bases. </a:t>
            </a:r>
          </a:p>
          <a:p>
            <a:pPr lvl="0"/>
            <a:r>
              <a:rPr lang="en-IN" b="1" dirty="0"/>
              <a:t>Dynamic Ingredient Substitutions</a:t>
            </a:r>
            <a:r>
              <a:rPr lang="en-IN" dirty="0"/>
              <a:t> – Suggest suitable alternative ingredients when essential items are missing. </a:t>
            </a:r>
          </a:p>
          <a:p>
            <a:pPr lvl="0"/>
            <a:r>
              <a:rPr lang="en-IN" b="1" dirty="0"/>
              <a:t>Step-by-Step Culinary Guidance</a:t>
            </a:r>
            <a:r>
              <a:rPr lang="en-IN" dirty="0"/>
              <a:t> – Provide actionable, easy-to-follow cooking instructions tailored to the user's skill level.</a:t>
            </a:r>
          </a:p>
          <a:p>
            <a:pPr lvl="0"/>
            <a:r>
              <a:rPr lang="en-IN" b="1" dirty="0"/>
              <a:t>Multi-Agent System</a:t>
            </a:r>
            <a:r>
              <a:rPr lang="en-IN" dirty="0"/>
              <a:t> –</a:t>
            </a:r>
          </a:p>
          <a:p>
            <a:pPr lvl="1"/>
            <a:r>
              <a:rPr lang="en-IN" b="1" dirty="0"/>
              <a:t>Pantry Inventory Agent</a:t>
            </a:r>
            <a:r>
              <a:rPr lang="en-IN" dirty="0"/>
              <a:t> (parses and matches available ingredient inputs) </a:t>
            </a:r>
          </a:p>
          <a:p>
            <a:pPr lvl="1"/>
            <a:r>
              <a:rPr lang="en-IN" b="1" dirty="0"/>
              <a:t>Recipe Recommendation Agent</a:t>
            </a:r>
            <a:r>
              <a:rPr lang="en-IN" dirty="0"/>
              <a:t> (generates context-aware meal options) </a:t>
            </a:r>
          </a:p>
          <a:p>
            <a:pPr lvl="1"/>
            <a:r>
              <a:rPr lang="en-IN" b="1" dirty="0"/>
              <a:t>Substitution &amp; Culinary Advisory Agent</a:t>
            </a:r>
            <a:r>
              <a:rPr lang="en-IN" dirty="0"/>
              <a:t> (provides smart dietary swaps and chef tips) </a:t>
            </a:r>
          </a:p>
          <a:p>
            <a:pPr lvl="1"/>
            <a:r>
              <a:rPr lang="en-IN" b="1" dirty="0"/>
              <a:t>Meal Planning &amp; Feedback Agent</a:t>
            </a:r>
            <a:r>
              <a:rPr lang="en-IN" dirty="0"/>
              <a:t> (tracks saved recipes and user preferences)</a:t>
            </a:r>
          </a:p>
          <a:p>
            <a:pPr lvl="0"/>
            <a:r>
              <a:rPr lang="en-IN" b="1" dirty="0"/>
              <a:t>Interactive UI Dashboard</a:t>
            </a:r>
            <a:r>
              <a:rPr lang="en-IN" dirty="0"/>
              <a:t> – Display structured recipe cards, step-by-step guidance, substitution matrices, and cooking tips in real time</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r>
              <a:rPr lang="en-IN" dirty="0"/>
              <a:t>The proposed solution is a </a:t>
            </a:r>
            <a:r>
              <a:rPr lang="en-IN" b="1" dirty="0"/>
              <a:t>multi-agent AI-powered Recipe Preparation Agent</a:t>
            </a:r>
            <a:r>
              <a:rPr lang="en-IN" dirty="0"/>
              <a:t> built using </a:t>
            </a:r>
            <a:r>
              <a:rPr lang="en-IN" b="1" dirty="0" err="1"/>
              <a:t>LangFlow</a:t>
            </a:r>
            <a:r>
              <a:rPr lang="en-IN" b="1" dirty="0"/>
              <a:t>, IBM watsonx.ai, and Granite Models</a:t>
            </a:r>
            <a:r>
              <a:rPr lang="en-IN" dirty="0"/>
              <a:t> to provide personalized, real-time culinary guidance. The system addresses challenges in pantry management, ingredient waste, and meal decision fatigue through an intelligent, modular architecture. </a:t>
            </a:r>
          </a:p>
          <a:p>
            <a:endParaRPr lang="en-IN" dirty="0"/>
          </a:p>
          <a:p>
            <a:r>
              <a:rPr lang="en-IN" dirty="0"/>
              <a:t>At its core, the solution uses a </a:t>
            </a:r>
            <a:r>
              <a:rPr lang="en-IN" b="1" dirty="0"/>
              <a:t>Retrieval-Augmented Generation (RAG)</a:t>
            </a:r>
            <a:r>
              <a:rPr lang="en-IN" dirty="0"/>
              <a:t> pipeline to fetch accurate culinary data from trusted JSON knowledge bases and recipe datasets. This data is indexed and retrieved to enable the system to parse available ingredients and summarize step-by-step cooking procedures, ingredient swaps, and preparation tips using Granite models. </a:t>
            </a:r>
          </a:p>
          <a:p>
            <a:endParaRPr lang="en-IN" dirty="0"/>
          </a:p>
          <a:p>
            <a:r>
              <a:rPr lang="en-IN" dirty="0"/>
              <a:t>The system consists of four key agents:</a:t>
            </a:r>
          </a:p>
          <a:p>
            <a:endParaRPr lang="en-IN" dirty="0"/>
          </a:p>
          <a:p>
            <a:pPr lvl="0"/>
            <a:r>
              <a:rPr lang="en-IN" b="1" dirty="0"/>
              <a:t>Pantry Inventory Agent</a:t>
            </a:r>
            <a:r>
              <a:rPr lang="en-IN" dirty="0"/>
              <a:t> retrieves and matches available ingredient inputs using RAG. </a:t>
            </a:r>
          </a:p>
          <a:p>
            <a:pPr lvl="0"/>
            <a:r>
              <a:rPr lang="en-IN" b="1" dirty="0"/>
              <a:t>Recipe Recommendation Agent</a:t>
            </a:r>
            <a:r>
              <a:rPr lang="en-IN" dirty="0"/>
              <a:t> generates personalized cooking options based on available pantry items, dietary preferences, and cooking time. </a:t>
            </a:r>
          </a:p>
          <a:p>
            <a:pPr lvl="0"/>
            <a:r>
              <a:rPr lang="en-IN" b="1" dirty="0"/>
              <a:t>Substitution &amp; Culinary Advisory Agent</a:t>
            </a:r>
            <a:r>
              <a:rPr lang="en-IN" dirty="0"/>
              <a:t> provides smart ingredient swaps (e.g., alternative sauces or spices) and expert cooking tips. </a:t>
            </a:r>
          </a:p>
          <a:p>
            <a:pPr lvl="0"/>
            <a:r>
              <a:rPr lang="en-IN" b="1" dirty="0"/>
              <a:t>Meal Planning &amp; Feedback Agent</a:t>
            </a:r>
            <a:r>
              <a:rPr lang="en-IN" dirty="0"/>
              <a:t> tracks saved user preferences, ingredient availability, and recipe history.</a:t>
            </a:r>
          </a:p>
          <a:p>
            <a:r>
              <a:rPr lang="en-IN" dirty="0"/>
              <a:t>The solution includes a </a:t>
            </a:r>
            <a:r>
              <a:rPr lang="en-IN" b="1" dirty="0"/>
              <a:t>user-friendly dashboard</a:t>
            </a:r>
            <a:r>
              <a:rPr lang="en-IN" dirty="0"/>
              <a:t> (built with </a:t>
            </a:r>
            <a:r>
              <a:rPr lang="en-IN" dirty="0" err="1"/>
              <a:t>Streamlit</a:t>
            </a:r>
            <a:r>
              <a:rPr lang="en-IN" dirty="0"/>
              <a:t>) that visualizes step-by-step instructions, ingredient checklists, dynamic substitutions, and chef guidance in real time. </a:t>
            </a:r>
          </a:p>
          <a:p>
            <a:r>
              <a:rPr lang="en-IN" dirty="0" err="1"/>
              <a:t>LangFlow</a:t>
            </a:r>
            <a:r>
              <a:rPr lang="en-IN" dirty="0"/>
              <a:t> is used to orchestrate agent workflows, while watsonx.ai ensures scalable model deployment, embeddings, and AI governance. Granite models power reasoning, summarization, and step-by-step personalization. </a:t>
            </a:r>
          </a:p>
          <a:p>
            <a:r>
              <a:rPr lang="en-IN" dirty="0"/>
              <a:t>Overall, this solution delivers an </a:t>
            </a:r>
            <a:r>
              <a:rPr lang="en-IN" b="1" dirty="0"/>
              <a:t>end-to-end intelligent recipe assistant</a:t>
            </a:r>
            <a:r>
              <a:rPr lang="en-IN" dirty="0"/>
              <a:t> that eliminates food waste and simplifies home cooking through personalized pantry insights, dynamic substitutions, and real-time culinary recommendations.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63794" y="1207008"/>
            <a:ext cx="11415251" cy="3139321"/>
          </a:xfrm>
          <a:prstGeom prst="rect">
            <a:avLst/>
          </a:prstGeom>
          <a:noFill/>
        </p:spPr>
        <p:txBody>
          <a:bodyPr wrap="square" rtlCol="0">
            <a:spAutoFit/>
          </a:bodyPr>
          <a:lstStyle/>
          <a:p>
            <a:pPr lvl="0"/>
            <a:r>
              <a:rPr lang="en-IN" sz="1800" b="1" dirty="0" err="1"/>
              <a:t>Langflow</a:t>
            </a:r>
            <a:r>
              <a:rPr lang="en-IN" sz="1800" b="1" dirty="0"/>
              <a:t> platform</a:t>
            </a:r>
            <a:r>
              <a:rPr lang="en-IN" sz="1800" dirty="0"/>
              <a:t> – For designing and orchestrating multi-agent workflows visually. </a:t>
            </a:r>
          </a:p>
          <a:p>
            <a:pPr lvl="0"/>
            <a:r>
              <a:rPr lang="en-IN" sz="1800" b="1" dirty="0"/>
              <a:t>IBM Granite model</a:t>
            </a:r>
            <a:r>
              <a:rPr lang="en-IN" sz="1800" dirty="0"/>
              <a:t> – (e.g., ibm-granite-3-2-8b) – For natural language understanding, reasoning, step-by-step cooking logic, and personalization. </a:t>
            </a:r>
          </a:p>
          <a:p>
            <a:pPr lvl="0"/>
            <a:r>
              <a:rPr lang="en-IN" sz="1800" b="1" dirty="0"/>
              <a:t>IBM Cloud</a:t>
            </a:r>
            <a:r>
              <a:rPr lang="en-IN" sz="1800" dirty="0"/>
              <a:t> – Provides the infrastructure to build, deploy, and scale the Recipe Preparation Agent efficiently. IBM Cloud enables a </a:t>
            </a:r>
            <a:r>
              <a:rPr lang="en-IN" sz="1800" b="1" dirty="0"/>
              <a:t>reliable, secure, and scalable environment</a:t>
            </a:r>
            <a:r>
              <a:rPr lang="en-IN" sz="1800" dirty="0"/>
              <a:t> for deploying the Recipe Preparation Agent. </a:t>
            </a:r>
          </a:p>
          <a:p>
            <a:pPr lvl="0"/>
            <a:r>
              <a:rPr lang="en-IN" sz="1800" b="1" dirty="0"/>
              <a:t>RAG</a:t>
            </a:r>
            <a:r>
              <a:rPr lang="en-IN" sz="1800" dirty="0"/>
              <a:t> – RAG to </a:t>
            </a:r>
            <a:r>
              <a:rPr lang="en-IN" sz="1800" b="1" dirty="0"/>
              <a:t>fetch real data first, then generate intelligent answers</a:t>
            </a:r>
            <a:r>
              <a:rPr lang="en-IN" sz="1800" dirty="0"/>
              <a:t>, making the Recipe Preparation Agent more trustworthy, accurate, and effective. </a:t>
            </a:r>
          </a:p>
          <a:p>
            <a:pPr lvl="0"/>
            <a:r>
              <a:rPr lang="en-IN" sz="1800" b="1" dirty="0"/>
              <a:t>IBM Watsonx.ai</a:t>
            </a:r>
            <a:r>
              <a:rPr lang="en-IN" sz="1800" dirty="0"/>
              <a:t> – For model deployment, embeddings, and AI governance. </a:t>
            </a:r>
          </a:p>
          <a:p>
            <a:pPr lvl="0"/>
            <a:r>
              <a:rPr lang="en-IN" sz="1800" b="1" dirty="0"/>
              <a:t>Vector Database / JSON Base</a:t>
            </a:r>
            <a:r>
              <a:rPr lang="en-IN" sz="1800" dirty="0"/>
              <a:t> – For RAG-based recipe, ingredient, substitution, and cooking tip data retrieval. </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BB86949-7ED1-C43B-B1E3-5122BB67A596}"/>
                  </a:ext>
                </a:extLst>
              </p:cNvPr>
              <p:cNvSpPr txBox="1"/>
              <p:nvPr/>
            </p:nvSpPr>
            <p:spPr>
              <a:xfrm>
                <a:off x="474822" y="1100506"/>
                <a:ext cx="8823960" cy="3416320"/>
              </a:xfrm>
              <a:prstGeom prst="rect">
                <a:avLst/>
              </a:prstGeom>
              <a:noFill/>
            </p:spPr>
            <p:txBody>
              <a:bodyPr wrap="square" rtlCol="0">
                <a:spAutoFit/>
              </a:bodyPr>
              <a:lstStyle/>
              <a:p>
                <a:r>
                  <a:rPr lang="en-IN" sz="1800" b="1" dirty="0"/>
                  <a:t>1) Chat Input</a:t>
                </a:r>
                <a:r>
                  <a:rPr lang="en-IN" sz="1800" dirty="0"/>
                  <a:t> – Interface where users enter their pantry ingredients, dietary preferences, or cooking constraints (text input). </a:t>
                </a:r>
              </a:p>
              <a:p>
                <a:r>
                  <a:rPr lang="en-IN" sz="1800" b="1" dirty="0"/>
                  <a:t>2) IBM </a:t>
                </a:r>
                <a:r>
                  <a:rPr lang="en-IN" sz="1800" b="1" dirty="0" err="1"/>
                  <a:t>watsonx</a:t>
                </a:r>
                <a:r>
                  <a:rPr lang="en-IN" sz="1800" b="1" dirty="0"/>
                  <a:t> AI Agent</a:t>
                </a:r>
                <a:r>
                  <a:rPr lang="en-IN" sz="1800" dirty="0"/>
                  <a:t> - Processes ingredient inputs using Granite models to match recipes, </a:t>
                </a:r>
                <a:r>
                  <a:rPr lang="en-IN" sz="1800" dirty="0" err="1"/>
                  <a:t>analyze</a:t>
                </a:r>
                <a:r>
                  <a:rPr lang="en-IN" sz="1800" dirty="0"/>
                  <a:t> contextual constraints, and generate step-by-step guidance. </a:t>
                </a:r>
              </a:p>
              <a:p>
                <a:r>
                  <a:rPr lang="en-IN" sz="1800" b="1" dirty="0"/>
                  <a:t>3) Name of IBM Granite model</a:t>
                </a:r>
                <a:r>
                  <a:rPr lang="en-IN" sz="1800" dirty="0"/>
                  <a:t> - </a:t>
                </a:r>
                <a:r>
                  <a:rPr lang="en-IN" sz="1800" b="1" dirty="0"/>
                  <a:t>Granite-3.0-8B-Instruct</a:t>
                </a:r>
                <a:r>
                  <a:rPr lang="en-IN" sz="1800" dirty="0"/>
                  <a:t> </a:t>
                </a:r>
                <a14:m>
                  <m:oMath xmlns:m="http://schemas.openxmlformats.org/officeDocument/2006/math">
                    <m:r>
                      <a:rPr lang="en-IN" sz="1800"/>
                      <m:t>→</m:t>
                    </m:r>
                  </m:oMath>
                </a14:m>
                <a:r>
                  <a:rPr lang="en-IN" sz="1800" dirty="0"/>
                  <a:t>Fast, efficient for real-time recipe generation and ingredient matching. </a:t>
                </a:r>
              </a:p>
              <a:p>
                <a:r>
                  <a:rPr lang="en-IN" sz="1800" b="1" dirty="0"/>
                  <a:t>4) Chat output</a:t>
                </a:r>
                <a:r>
                  <a:rPr lang="en-IN" sz="1800" dirty="0"/>
                  <a:t> - Displays AI-generated outputs such as structured recipe cards, step-by-step preparation steps, ingredient substitution matrices, and chef tips. </a:t>
                </a:r>
              </a:p>
              <a:p>
                <a:r>
                  <a:rPr lang="en-IN" sz="1800" b="1" dirty="0"/>
                  <a:t>5) File component</a:t>
                </a:r>
                <a:r>
                  <a:rPr lang="en-IN" sz="1800" dirty="0"/>
                  <a:t> - Stores and retrieves local recipe datasets (</a:t>
                </a:r>
                <a:r>
                  <a:rPr lang="en-IN" sz="1800" dirty="0" err="1"/>
                  <a:t>recipe_data.json</a:t>
                </a:r>
                <a:r>
                  <a:rPr lang="en-IN" sz="1800" dirty="0"/>
                  <a:t>), ingredient mappings, and contextual RAG knowledge for search analysis. </a:t>
                </a:r>
              </a:p>
              <a:p>
                <a:r>
                  <a:rPr lang="en-IN" sz="1800" b="1" dirty="0"/>
                  <a:t>6) Prompt / Parse Data Component</a:t>
                </a:r>
                <a:r>
                  <a:rPr lang="en-IN" sz="1800" dirty="0"/>
                  <a:t> - Parses user-entered comma-separated ingredient strings and formats RAG prompt templates for the LLM reasoning pipeline. </a:t>
                </a:r>
              </a:p>
            </p:txBody>
          </p:sp>
        </mc:Choice>
        <mc:Fallback>
          <p:sp>
            <p:nvSpPr>
              <p:cNvPr id="2" name="TextBox 1">
                <a:extLst>
                  <a:ext uri="{FF2B5EF4-FFF2-40B4-BE49-F238E27FC236}">
                    <a16:creationId xmlns:a16="http://schemas.microsoft.com/office/drawing/2014/main" id="{9BB86949-7ED1-C43B-B1E3-5122BB67A596}"/>
                  </a:ext>
                </a:extLst>
              </p:cNvPr>
              <p:cNvSpPr txBox="1">
                <a:spLocks noRot="1" noChangeAspect="1" noMove="1" noResize="1" noEditPoints="1" noAdjustHandles="1" noChangeArrowheads="1" noChangeShapeType="1" noTextEdit="1"/>
              </p:cNvSpPr>
              <p:nvPr/>
            </p:nvSpPr>
            <p:spPr>
              <a:xfrm>
                <a:off x="474822" y="1100506"/>
                <a:ext cx="8823960" cy="3416320"/>
              </a:xfrm>
              <a:prstGeom prst="rect">
                <a:avLst/>
              </a:prstGeom>
              <a:blipFill>
                <a:blip r:embed="rId3"/>
                <a:stretch>
                  <a:fillRect l="-622" t="-1071" r="-829" b="-1964"/>
                </a:stretch>
              </a:blipFill>
            </p:spPr>
            <p:txBody>
              <a:bodyPr/>
              <a:lstStyle/>
              <a:p>
                <a:r>
                  <a:rPr lang="en-IN">
                    <a:noFill/>
                  </a:rPr>
                  <a:t> </a:t>
                </a:r>
              </a:p>
            </p:txBody>
          </p:sp>
        </mc:Fallback>
      </mc:AlternateContent>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IN" b="1" dirty="0"/>
              <a:t>Agentic AI</a:t>
            </a:r>
            <a:r>
              <a:rPr lang="en-IN" dirty="0"/>
              <a:t> enables the Recipe Preparation Agent to function as an intelligent, autonomous system rather than a simple chatbot. Using </a:t>
            </a:r>
            <a:r>
              <a:rPr lang="en-IN" b="1" dirty="0"/>
              <a:t>IBM watsonx.ai</a:t>
            </a:r>
            <a:r>
              <a:rPr lang="en-IN" dirty="0"/>
              <a:t> and </a:t>
            </a:r>
            <a:r>
              <a:rPr lang="en-IN" b="1" dirty="0"/>
              <a:t>IBM Granite models</a:t>
            </a:r>
            <a:r>
              <a:rPr lang="en-IN" dirty="0"/>
              <a:t>, it coordinates multiple specialized agents to deliver personalized culinary guidance. </a:t>
            </a:r>
          </a:p>
          <a:p>
            <a:r>
              <a:rPr lang="en-IN" dirty="0"/>
              <a:t>Each agent performs a specific role—such as retrieving recipe data, generating step-by-step instructions, providing dynamic ingredient substitutions, and offering culinary tips—while working collaboratively. This </a:t>
            </a:r>
            <a:r>
              <a:rPr lang="en-IN" b="1" dirty="0"/>
              <a:t>multi-agent approach</a:t>
            </a:r>
            <a:r>
              <a:rPr lang="en-IN" dirty="0"/>
              <a:t> ensures efficient task execution and accurate results. </a:t>
            </a:r>
          </a:p>
          <a:p>
            <a:r>
              <a:rPr lang="en-IN" dirty="0"/>
              <a:t>Agentic AI also brings </a:t>
            </a:r>
            <a:r>
              <a:rPr lang="en-IN" b="1" dirty="0"/>
              <a:t>context awareness</a:t>
            </a:r>
            <a:r>
              <a:rPr lang="en-IN" dirty="0"/>
              <a:t>, understanding user details like available pantry items, dietary preferences, and skill levels to generate tailored recommendations. It supports </a:t>
            </a:r>
            <a:r>
              <a:rPr lang="en-IN" b="1" dirty="0"/>
              <a:t>real-time adaptation</a:t>
            </a:r>
            <a:r>
              <a:rPr lang="en-IN" dirty="0"/>
              <a:t>, continuously updating suggestions based on user inputs like available groceries. </a:t>
            </a:r>
          </a:p>
          <a:p>
            <a:r>
              <a:rPr lang="en-IN" dirty="0"/>
              <a:t>Additionally, agents communicate with each other, enabling better decision-making and improved outcomes. </a:t>
            </a:r>
          </a:p>
          <a:p>
            <a:r>
              <a:rPr lang="en-IN" dirty="0"/>
              <a:t>Overall, Agentic AI makes the system proactive, personalized, and goal-driven, acting like a </a:t>
            </a:r>
            <a:r>
              <a:rPr lang="en-IN" b="1" dirty="0"/>
              <a:t>smart digital chef</a:t>
            </a:r>
            <a:r>
              <a:rPr lang="en-IN" dirty="0"/>
              <a:t> that helps users minimize food waste and simplify home cooking.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754874"/>
          </a:xfrm>
          <a:prstGeom prst="rect">
            <a:avLst/>
          </a:prstGeom>
          <a:noFill/>
        </p:spPr>
        <p:txBody>
          <a:bodyPr wrap="square" rtlCol="0">
            <a:spAutoFit/>
          </a:bodyPr>
          <a:lstStyle/>
          <a:p>
            <a:r>
              <a:rPr lang="en-IN" sz="1600" dirty="0"/>
              <a:t>The proposed Recipe Preparation Agent stands out by combining </a:t>
            </a:r>
            <a:r>
              <a:rPr lang="en-IN" sz="1600" b="1" dirty="0"/>
              <a:t>Agentic AI, RAG, and personalization</a:t>
            </a:r>
            <a:r>
              <a:rPr lang="en-IN" sz="1600" dirty="0"/>
              <a:t> into a single intelligent system. </a:t>
            </a:r>
          </a:p>
          <a:p>
            <a:pPr lvl="0"/>
            <a:r>
              <a:rPr lang="en-IN" sz="1600" b="1" dirty="0"/>
              <a:t>Multi-Agent Intelligence</a:t>
            </a:r>
            <a:r>
              <a:rPr lang="en-IN" sz="1600" dirty="0"/>
              <a:t> – Instead of a single chatbot, multiple specialized agents collaborate to deliver accurate and context-aware culinary guidance. </a:t>
            </a:r>
          </a:p>
          <a:p>
            <a:pPr lvl="0"/>
            <a:r>
              <a:rPr lang="en-IN" sz="1600" b="1" dirty="0"/>
              <a:t>RAG-Based Accuracy</a:t>
            </a:r>
            <a:r>
              <a:rPr lang="en-IN" sz="1600" dirty="0"/>
              <a:t> – Integrates real-time data retrieval with AI generation, reducing hallucinations and ensuring accurate recipe steps and measurements. </a:t>
            </a:r>
          </a:p>
          <a:p>
            <a:pPr lvl="0"/>
            <a:r>
              <a:rPr lang="en-IN" sz="1600" b="1" dirty="0"/>
              <a:t>Hyper-Personalization</a:t>
            </a:r>
            <a:r>
              <a:rPr lang="en-IN" sz="1600" dirty="0"/>
              <a:t> – Tailors meal recipes based on available pantry items, dietary restrictions, and cooking preferences. </a:t>
            </a:r>
          </a:p>
          <a:p>
            <a:pPr lvl="0"/>
            <a:r>
              <a:rPr lang="en-IN" sz="1600" b="1" dirty="0"/>
              <a:t>Real-Time Feedback Loop</a:t>
            </a:r>
            <a:r>
              <a:rPr lang="en-IN" sz="1600" dirty="0"/>
              <a:t> – Continuously adapts recommendations based on user feedback and available grocery stock.</a:t>
            </a:r>
          </a:p>
          <a:p>
            <a:pPr lvl="0"/>
            <a:r>
              <a:rPr lang="en-IN" sz="1600" b="1" dirty="0"/>
              <a:t>Multi-Modal Input</a:t>
            </a:r>
            <a:r>
              <a:rPr lang="en-IN" sz="1600" dirty="0"/>
              <a:t> – Supports text, voice, and image-based ingredient tracking for better usability. </a:t>
            </a:r>
          </a:p>
          <a:p>
            <a:pPr lvl="0"/>
            <a:r>
              <a:rPr lang="en-IN" sz="1600" b="1" dirty="0"/>
              <a:t>Zero-Waste Focus</a:t>
            </a:r>
            <a:r>
              <a:rPr lang="en-IN" sz="1600" dirty="0"/>
              <a:t> – Goes beyond standard cooking apps by prioritizing pantry inventory to eliminate household food waste. </a:t>
            </a:r>
          </a:p>
          <a:p>
            <a:pPr lvl="0"/>
            <a:r>
              <a:rPr lang="en-IN" sz="1600" b="1" dirty="0"/>
              <a:t>Scalable &amp; Enterprise-Ready</a:t>
            </a:r>
            <a:r>
              <a:rPr lang="en-IN" sz="1600" dirty="0"/>
              <a:t> – Built on </a:t>
            </a:r>
            <a:r>
              <a:rPr lang="en-IN" sz="1600" b="1" dirty="0"/>
              <a:t>IBM watsonx.ai</a:t>
            </a:r>
            <a:r>
              <a:rPr lang="en-IN" sz="1600" dirty="0"/>
              <a:t> with </a:t>
            </a:r>
            <a:r>
              <a:rPr lang="en-IN" sz="1600" b="1" dirty="0"/>
              <a:t>IBM Granite models</a:t>
            </a:r>
            <a:r>
              <a:rPr lang="en-IN" sz="1600" dirty="0"/>
              <a:t>, ensuring reliability and governance. </a:t>
            </a:r>
          </a:p>
          <a:p>
            <a:endParaRPr lang="en-IN" sz="1600" dirty="0"/>
          </a:p>
          <a:p>
            <a:r>
              <a:rPr lang="en-IN" sz="1600" dirty="0"/>
              <a:t>This makes the solution a </a:t>
            </a:r>
            <a:r>
              <a:rPr lang="en-IN" sz="1600" b="1" dirty="0"/>
              <a:t>smart, adaptive, and proactive digital chef</a:t>
            </a:r>
            <a:r>
              <a:rPr lang="en-IN" sz="1600" dirty="0"/>
              <a:t>, not just a static recipe search engine</a:t>
            </a:r>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11110928"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https://github.com/gokulmaha2206-spec/IBM-SkillsBuild-Recipe-Agent.git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IN" sz="1800" dirty="0"/>
              <a:t>app.py</a:t>
            </a:r>
            <a:r>
              <a:rPr lang="en-US" sz="1800" dirty="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 2) </a:t>
            </a:r>
            <a:r>
              <a:rPr lang="en-IN" sz="1800" dirty="0"/>
              <a:t>Problem Statement-16: </a:t>
            </a:r>
            <a:r>
              <a:rPr lang="en-IN" sz="1800" dirty="0" err="1"/>
              <a:t>Recipe_Agent</a:t>
            </a:r>
            <a:r>
              <a:rPr lang="en-IN" sz="1800" dirty="0"/>
              <a:t> .pdf </a:t>
            </a:r>
            <a:r>
              <a:rPr lang="en-US" sz="1850" dirty="0">
                <a:solidFill>
                  <a:srgbClr val="2B3541"/>
                </a:solidFill>
                <a:latin typeface="Times New Roman"/>
                <a:ea typeface="Times New Roman"/>
                <a:cs typeface="Times New Roman"/>
                <a:sym typeface="Times New Roman"/>
              </a:rPr>
              <a:t>3) </a:t>
            </a:r>
            <a:r>
              <a:rPr lang="en-IN" sz="1800" dirty="0">
                <a:latin typeface="+mn-lt"/>
              </a:rPr>
              <a:t>Recipe Preparation Agent Presentation.pptx</a:t>
            </a:r>
            <a:r>
              <a:rPr lang="en-US" sz="1800" dirty="0">
                <a:solidFill>
                  <a:srgbClr val="2B3541"/>
                </a:solidFill>
                <a:latin typeface="+mn-lt"/>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4)</a:t>
            </a:r>
            <a:r>
              <a:rPr lang="en-IN" sz="2000" dirty="0"/>
              <a:t> </a:t>
            </a:r>
            <a:r>
              <a:rPr lang="en-IN" sz="1800" dirty="0" err="1">
                <a:latin typeface="+mn-lt"/>
              </a:rPr>
              <a:t>recipe_data.json</a:t>
            </a:r>
            <a:r>
              <a:rPr lang="en-IN" sz="1800" dirty="0">
                <a:latin typeface="+mn-lt"/>
              </a:rPr>
              <a:t> 5)</a:t>
            </a:r>
            <a:r>
              <a:rPr lang="en-IN" sz="1800" dirty="0"/>
              <a:t> </a:t>
            </a:r>
            <a:r>
              <a:rPr lang="en-IN" sz="1800" dirty="0">
                <a:latin typeface="+mn-lt"/>
              </a:rPr>
              <a:t>requirements.txt</a:t>
            </a:r>
            <a:endParaRPr lang="en-US" sz="1800" dirty="0">
              <a:solidFill>
                <a:srgbClr val="2B3541"/>
              </a:solidFill>
              <a:latin typeface="+mn-lt"/>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800" b="1" dirty="0"/>
              <a:t>1. Integration with Smart Kitchen Appliances &amp; IoT Pantry Sensors –</a:t>
            </a:r>
            <a:r>
              <a:rPr lang="en-IN" sz="1800" dirty="0"/>
              <a:t> The system can be integrated with smart refrigerators, barcode scanners, and IoT pantry weight sensors to maintain real-time inventory tracking. This will enable the Recipe Preparation Agent to automatically detect available ingredients and suggest recipes without manual user input. </a:t>
            </a:r>
          </a:p>
          <a:p>
            <a:endParaRPr lang="en-IN" sz="1800" dirty="0"/>
          </a:p>
          <a:p>
            <a:r>
              <a:rPr lang="en-IN" sz="1800" b="1" dirty="0"/>
              <a:t>2. AI-Powered Voice Assistant &amp; Multilingual Support –</a:t>
            </a:r>
            <a:r>
              <a:rPr lang="en-IN" sz="1800" dirty="0"/>
              <a:t> Enhancing the system with hands-free, voice-guided cooking instructions and support for multiple regional languages will improve accessibility during meal preparation. Users can interact naturally in their preferred language while cooking, making the solution more inclusive and suitable for diverse populations.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22DB3C68-7C94-841D-165D-1FBE05388C69}"/>
              </a:ext>
            </a:extLst>
          </p:cNvPr>
          <p:cNvPicPr>
            <a:picLocks noChangeAspect="1"/>
          </p:cNvPicPr>
          <p:nvPr/>
        </p:nvPicPr>
        <p:blipFill>
          <a:blip r:embed="rId2"/>
          <a:stretch>
            <a:fillRect/>
          </a:stretch>
        </p:blipFill>
        <p:spPr>
          <a:xfrm>
            <a:off x="1658470" y="1213280"/>
            <a:ext cx="8875059" cy="564471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C902ED64-A45C-2F4D-F10A-201616D25100}"/>
              </a:ext>
            </a:extLst>
          </p:cNvPr>
          <p:cNvPicPr>
            <a:picLocks noChangeAspect="1"/>
          </p:cNvPicPr>
          <p:nvPr/>
        </p:nvPicPr>
        <p:blipFill>
          <a:blip r:embed="rId2"/>
          <a:stretch>
            <a:fillRect/>
          </a:stretch>
        </p:blipFill>
        <p:spPr>
          <a:xfrm rot="5400000">
            <a:off x="2723340" y="376562"/>
            <a:ext cx="5681711" cy="7883744"/>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422</TotalTime>
  <Words>1444</Words>
  <Application>Microsoft Office PowerPoint</Application>
  <PresentationFormat>Widescreen</PresentationFormat>
  <Paragraphs>92</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Gokulakrishnan S</cp:lastModifiedBy>
  <cp:revision>17</cp:revision>
  <dcterms:created xsi:type="dcterms:W3CDTF">2025-07-08T05:06:56Z</dcterms:created>
  <dcterms:modified xsi:type="dcterms:W3CDTF">2026-09-10T13:41:43Z</dcterms:modified>
</cp:coreProperties>
</file>